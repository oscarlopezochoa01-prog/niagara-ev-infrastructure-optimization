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4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map of a city with highlighted electric vehicle charging station locations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7275" y="1214438"/>
            <a:ext cx="10077450" cy="4429125"/>
          </a:xfrm>
          <a:prstGeom prst="rect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200150" y="1486644"/>
            <a:ext cx="9791700" cy="34081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6709"/>
              </a:lnSpc>
            </a:pPr>
            <a:r>
              <a:rPr lang="en-US" sz="6750" kern="0" spc="-405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  <a:t>Strategic Optimization</a:t>
            </a:r>
            <a:br>
              <a:rPr lang="en-US" sz="6750" kern="0" spc="-405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</a:br>
            <a:r>
              <a:rPr lang="en-US" sz="6750" kern="0" spc="-405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  <a:t>of Electric Vehicle Charging Infrastructure</a:t>
            </a:r>
            <a:br>
              <a:rPr lang="en-US" sz="6750" kern="0" spc="-405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</a:br>
            <a:r>
              <a:rPr lang="en-US" sz="6750" kern="0" spc="-405" dirty="0">
                <a:solidFill>
                  <a:srgbClr val="333333"/>
                </a:solidFill>
                <a:latin typeface="Geist Black" pitchFamily="34" charset="0"/>
                <a:ea typeface="Geist Black" pitchFamily="34" charset="-122"/>
                <a:cs typeface="Geist Black" pitchFamily="34" charset="-120"/>
              </a:rPr>
              <a:t>in Niagara Falls, Ontario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90650" y="5023842"/>
            <a:ext cx="9410700" cy="3083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428"/>
              </a:lnSpc>
              <a:spcBef>
                <a:spcPts val="997"/>
              </a:spcBef>
            </a:pPr>
            <a:r>
              <a:rPr lang="en-CA" dirty="0"/>
              <a:t>A Mixed-Integer Linear Programming Approach with Renewable Sourcing, Temporal Demands, and Priority Weighting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85750" y="5744021"/>
            <a:ext cx="278130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Final Group Project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5750" y="6058049"/>
            <a:ext cx="2947511" cy="2183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20"/>
              </a:lnSpc>
              <a:spcBef>
                <a:spcPts val="754"/>
              </a:spcBef>
            </a:pPr>
            <a:r>
              <a:rPr lang="en-US" sz="1275" kern="0" spc="-51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Course: DAM0610 Operations Analytics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543300" y="5744021"/>
            <a:ext cx="1857702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Oscar Lopez Ochoa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543300" y="6069657"/>
            <a:ext cx="179070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spcBef>
                <a:spcPts val="844"/>
              </a:spcBef>
            </a:pPr>
            <a:r>
              <a:rPr lang="en-US" sz="1500" kern="0" spc="-45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Cindy Paredes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43300" y="6395293"/>
            <a:ext cx="179070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spcBef>
                <a:spcPts val="844"/>
              </a:spcBef>
            </a:pPr>
            <a:r>
              <a:rPr lang="en-US" sz="1500" kern="0" spc="-45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German Meins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electric vehicle charging station"/>
          <p:cNvPicPr>
            <a:picLocks noChangeAspect="1"/>
          </p:cNvPicPr>
          <p:nvPr/>
        </p:nvPicPr>
        <p:blipFill>
          <a:blip r:embed="rId3"/>
          <a:srcRect l="5556" r="5556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959644"/>
            <a:ext cx="5143500" cy="2055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619"/>
              </a:lnSpc>
            </a:pPr>
            <a:r>
              <a:rPr lang="en-US" sz="1425" kern="0" spc="-43" dirty="0">
                <a:solidFill>
                  <a:srgbClr val="48DC92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Key Challenges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1428304"/>
            <a:ext cx="4575840" cy="8992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541"/>
              </a:lnSpc>
              <a:spcBef>
                <a:spcPts val="2031"/>
              </a:spcBef>
            </a:pPr>
            <a:r>
              <a:rPr lang="en-US" sz="3563" kern="0" spc="-214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Unregulated EV</a:t>
            </a:r>
            <a:br>
              <a:rPr lang="en-US" sz="3563" kern="0" spc="-214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3563" kern="0" spc="-214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Infrastructure Growth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6250" y="2524720"/>
            <a:ext cx="5331916" cy="33812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781"/>
              </a:lnSpc>
              <a:spcBef>
                <a:spcPts val="1522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Black" pitchFamily="34" charset="-122"/>
                <a:cs typeface="Geist Black" pitchFamily="34" charset="-120"/>
              </a:rPr>
              <a:t>Commercial Motivation:</a:t>
            </a: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 Operators prioritize high-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density locations to maximize charger utilization and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profitability.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Black" pitchFamily="34" charset="-122"/>
                <a:cs typeface="Geist Black" pitchFamily="34" charset="-120"/>
              </a:rPr>
              <a:t>Grid Constraints:</a:t>
            </a: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 Unregulated clustering of high-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power DC fast chargers risks overloading localized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municipal power grids.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Black" pitchFamily="34" charset="-122"/>
                <a:cs typeface="Geist Black" pitchFamily="34" charset="-120"/>
              </a:rPr>
              <a:t>The Infrastructure Gap:</a:t>
            </a: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 Rapid adoption rates often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outpace utility-side capacity planning and distribution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upgrades.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1781"/>
              </a:lnSpc>
              <a:spcBef>
                <a:spcPts val="1720"/>
              </a:spcBef>
              <a:buSzPct val="100000"/>
              <a:buChar char="•"/>
            </a:pP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Black" pitchFamily="34" charset="-122"/>
                <a:cs typeface="Geist Black" pitchFamily="34" charset="-120"/>
              </a:rPr>
              <a:t>Operational Risk:</a:t>
            </a: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 Potential for localized grid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instability, increased demand charges, and service</a:t>
            </a:r>
            <a:b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567" kern="0" spc="-47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bottlenecks in high-demand areas.</a:t>
            </a:r>
            <a:endParaRPr lang="en-US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Strategic Milestones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Operational Optimization Framework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695325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28988" y="1963638"/>
            <a:ext cx="553402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Our three-pillar approach for operational optimization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524125"/>
            <a:ext cx="3683000" cy="3857625"/>
          </a:xfrm>
          <a:prstGeom prst="rect">
            <a:avLst/>
          </a:prstGeom>
          <a:solidFill>
            <a:srgbClr val="56C4EA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3763" y="3444627"/>
            <a:ext cx="28479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  <a:spcBef>
                <a:spcPts val="1297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Spatial Modeling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710" y="3767286"/>
            <a:ext cx="3140630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023"/>
              </a:lnSpc>
              <a:spcBef>
                <a:spcPts val="654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Developing comprehensive spatial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models of urban vehicle traffic to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identify efficiency gaps.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pic>
        <p:nvPicPr>
          <p:cNvPr id="9" name="Image 0" descr="-d42d9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365" y="2831978"/>
            <a:ext cx="390525" cy="4095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4500" y="2524125"/>
            <a:ext cx="3683000" cy="3857625"/>
          </a:xfrm>
          <a:prstGeom prst="rect">
            <a:avLst/>
          </a:prstGeom>
          <a:solidFill>
            <a:srgbClr val="75AFED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67238" y="3444627"/>
            <a:ext cx="305752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  <a:spcBef>
                <a:spcPts val="1297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MILP Optimization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473669" y="3767286"/>
            <a:ext cx="3244661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023"/>
              </a:lnSpc>
              <a:spcBef>
                <a:spcPts val="654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Minimize total infrastructure and operational costs across a $350,000 capital budget.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pic>
        <p:nvPicPr>
          <p:cNvPr id="13" name="Image 1" descr="1a3231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675" y="2798492"/>
            <a:ext cx="371475" cy="4857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32750" y="2524125"/>
            <a:ext cx="3683000" cy="3857625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335963" y="3444627"/>
            <a:ext cx="30765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  <a:spcBef>
                <a:spcPts val="1297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Grid Capacity Integration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239209" y="3767286"/>
            <a:ext cx="3270081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023"/>
              </a:lnSpc>
              <a:spcBef>
                <a:spcPts val="654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Extending the core model to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A time-of-use grid capacity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thresholds for sustainable planning.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pic>
        <p:nvPicPr>
          <p:cNvPr id="17" name="Image 2" descr="700874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816" y="2826397"/>
            <a:ext cx="390525" cy="428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Building on Bian et al. (2021)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The primary reference is derived from the work of Bian, Liu, and Wang (2021)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3348038"/>
            <a:ext cx="3619500" cy="1776413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3851672"/>
            <a:ext cx="3143250" cy="2531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</a:pPr>
            <a:r>
              <a:rPr lang="en-US" sz="1755" kern="0" spc="-53" dirty="0">
                <a:solidFill>
                  <a:srgbClr val="FFFFFF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Theoretical Foundations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173141"/>
            <a:ext cx="3304877" cy="4625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21"/>
              </a:lnSpc>
              <a:spcBef>
                <a:spcPts val="528"/>
              </a:spcBef>
            </a:pPr>
            <a: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Grounding current research in the</a:t>
            </a:r>
            <a:b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methodologies established by Bian and Li.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28813" y="29908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0016b4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426" y="3188978"/>
            <a:ext cx="247650" cy="3238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3348038"/>
            <a:ext cx="3619500" cy="1776413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3851672"/>
            <a:ext cx="3143250" cy="5063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</a:pPr>
            <a:r>
              <a:rPr lang="en-US" sz="1755" kern="0" spc="-53" dirty="0">
                <a:solidFill>
                  <a:srgbClr val="FFFFFF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Addressing the Infinite Grid</a:t>
            </a:r>
            <a:br>
              <a:rPr lang="en-US" sz="1755" kern="0" spc="-53" dirty="0">
                <a:solidFill>
                  <a:srgbClr val="FFFFFF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755" kern="0" spc="-53" dirty="0">
                <a:solidFill>
                  <a:srgbClr val="FFFFFF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Assumption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0" y="4426297"/>
            <a:ext cx="3188643" cy="4625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21"/>
              </a:lnSpc>
              <a:spcBef>
                <a:spcPts val="528"/>
              </a:spcBef>
            </a:pPr>
            <a: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Moving beyond the original 2019 study's</a:t>
            </a:r>
            <a:b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model of infinite power capacity.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38813" y="29908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A6E6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4e3489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637" y="3251762"/>
            <a:ext cx="381000" cy="2000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3348038"/>
            <a:ext cx="3619500" cy="1776413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382000" y="3851672"/>
            <a:ext cx="3143250" cy="25315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</a:pPr>
            <a:r>
              <a:rPr lang="en-US" sz="1755" kern="0" spc="-53" dirty="0">
                <a:solidFill>
                  <a:srgbClr val="FFFFFF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Practical Implementation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382000" y="4173141"/>
            <a:ext cx="3231207" cy="69383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21"/>
              </a:lnSpc>
              <a:spcBef>
                <a:spcPts val="528"/>
              </a:spcBef>
            </a:pPr>
            <a: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Integrating real-world constraints</a:t>
            </a:r>
            <a:b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including transmission limits, congestion,</a:t>
            </a:r>
            <a:b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350" kern="0" spc="-54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and localized bottlenecks.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9548813" y="29908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-708ef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383" y="3218279"/>
            <a:ext cx="352425" cy="257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8DC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Modeling Environment Dimensions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Spatial Parameters and Infrastructure Specifications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2276773"/>
            <a:ext cx="2329339" cy="10566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8320"/>
              </a:lnSpc>
            </a:pPr>
            <a:r>
              <a:rPr lang="en-US" sz="9375" kern="0" spc="-46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28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3615184"/>
            <a:ext cx="1686193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discrete locations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1886396"/>
            <a:ext cx="5262563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Demand Nodes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4129088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00" y="4672310"/>
            <a:ext cx="2344341" cy="10566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8320"/>
              </a:lnSpc>
            </a:pPr>
            <a:r>
              <a:rPr lang="en-US" sz="9375" kern="0" spc="-46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</a:rPr>
              <a:t>12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6750" y="6010721"/>
            <a:ext cx="1246138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potential lots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" y="4281934"/>
            <a:ext cx="5262563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Candidate Sites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67438" y="1733550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6232" y="2623245"/>
            <a:ext cx="5070723" cy="4759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Fast Chargers: 50 kW output; 30-minute optimal</a:t>
            </a:r>
            <a:b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duration.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67438" y="4129088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96052" y="5018782"/>
            <a:ext cx="5091083" cy="4759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Slow Chargers: 7 kW output; 240-minute optimal</a:t>
            </a:r>
            <a:b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duration.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Geographic Connectivity Constraints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Binary Spatial Coverage Matrix (A_ij)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36861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0c1a66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33550"/>
            <a:ext cx="11249025" cy="3695700"/>
          </a:xfrm>
          <a:prstGeom prst="rect">
            <a:avLst/>
          </a:prstGeom>
        </p:spPr>
      </p:pic>
      <p:pic>
        <p:nvPicPr>
          <p:cNvPr id="6" name="Image 1" descr="18c10e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33550"/>
            <a:ext cx="11239500" cy="3686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733550"/>
            <a:ext cx="2324589" cy="921544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800839" y="1733550"/>
            <a:ext cx="2221664" cy="921544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Park A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022503" y="1733550"/>
            <a:ext cx="2225989" cy="921544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Park B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248492" y="1733550"/>
            <a:ext cx="2234638" cy="921544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Park C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9483130" y="1733550"/>
            <a:ext cx="2232620" cy="921544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Park D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6250" y="2655094"/>
            <a:ext cx="23245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Node 1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3346252"/>
            <a:ext cx="23245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Node 2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6250" y="4037409"/>
            <a:ext cx="23245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Node 3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6250" y="4728567"/>
            <a:ext cx="23245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Node 4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800839" y="2655094"/>
            <a:ext cx="2221664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1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022503" y="2655094"/>
            <a:ext cx="22259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0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800839" y="3346252"/>
            <a:ext cx="2221664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0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022503" y="3346252"/>
            <a:ext cx="22259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1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248492" y="4037409"/>
            <a:ext cx="2234638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1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9483130" y="4728567"/>
            <a:ext cx="2232620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1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800839" y="4037409"/>
            <a:ext cx="2221664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2800839" y="4728567"/>
            <a:ext cx="2221664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022503" y="4037409"/>
            <a:ext cx="22259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022503" y="4728567"/>
            <a:ext cx="2225989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7248492" y="2655094"/>
            <a:ext cx="2234638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248492" y="3346252"/>
            <a:ext cx="2234638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7248492" y="4728567"/>
            <a:ext cx="2234638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9483130" y="2655094"/>
            <a:ext cx="2232620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483130" y="3346252"/>
            <a:ext cx="2232620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9483130" y="4037409"/>
            <a:ext cx="2232620" cy="691158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0" y="5895975"/>
            <a:ext cx="12192000" cy="962025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247650" y="6266259"/>
            <a:ext cx="11696700" cy="2260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781"/>
              </a:lnSpc>
            </a:pPr>
            <a:r>
              <a:rPr lang="en-US" sz="1567" kern="0" spc="-47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Ensures all assigned traffic nodes remain within the designated service perimeter, guaranteeing accessibility and compliance.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The Optimization Architecture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Key components of our revenue and operational model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62250" y="2573655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-7d898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91" y="3028395"/>
            <a:ext cx="695325" cy="514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8763" y="4100036"/>
            <a:ext cx="3895725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Decision Variables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92168" y="4439960"/>
            <a:ext cx="4168914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Includes binary variables for station status,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integer variables for charger counts, and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demand capture estimates based on traffic and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location.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001000" y="2573655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24e75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41" y="3045133"/>
            <a:ext cx="561975" cy="476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5625" y="4100036"/>
            <a:ext cx="36195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Objective Function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781130" y="4439960"/>
            <a:ext cx="3868489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23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Designed to minimize total system cost: capital expenditure, operational energy costs, and weighted unmet demand penalties.</a:t>
            </a:r>
            <a:endParaRPr lang="en-US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Hard Boundary Limits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Operational constraints and capacity constraints for infrastructure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3309938"/>
            <a:ext cx="3619500" cy="1852613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3808661"/>
            <a:ext cx="31432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Demand Cap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165848"/>
            <a:ext cx="3216622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87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Satisfied volume cannot exceed the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total traffic experienced by the node.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28813" y="2952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-46fcdb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45" y="3121577"/>
            <a:ext cx="361950" cy="3524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3309938"/>
            <a:ext cx="3619500" cy="1852613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3808661"/>
            <a:ext cx="31432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Throughput Bound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0" y="4165848"/>
            <a:ext cx="3143250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87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Station-level volume is restricted to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the specific charger hardware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operating limits.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38813" y="2952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A6E6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-4f6ec0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789" y="3138320"/>
            <a:ext cx="228600" cy="3619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3309938"/>
            <a:ext cx="3619500" cy="1852613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382000" y="3808661"/>
            <a:ext cx="31432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Logical Coupling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382000" y="4165848"/>
            <a:ext cx="3213050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87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Chargers can only be deployed if the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parent station is confirmed as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operational and open.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9548813" y="2952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168bcf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0197" y="3171806"/>
            <a:ext cx="352425" cy="276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648271"/>
            <a:ext cx="10772775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48DC92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Strategic Framework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141637"/>
            <a:ext cx="10772775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727"/>
              </a:lnSpc>
              <a:spcBef>
                <a:spcPts val="2138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Global Expansion Limits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6250" y="2822377"/>
            <a:ext cx="11153775" cy="240446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874"/>
              </a:lnSpc>
              <a:spcBef>
                <a:spcPts val="1602"/>
              </a:spcBef>
              <a:buSzPct val="10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Franklin Gothic Book" panose="020B0503020102020204" pitchFamily="34" charset="0"/>
                <a:ea typeface="Geist Black" pitchFamily="34" charset="-122"/>
                <a:cs typeface="Geist Black" pitchFamily="34" charset="-120"/>
              </a:rPr>
              <a:t>Primary Constraint:</a:t>
            </a:r>
            <a:r>
              <a:rPr lang="en-US" sz="1650" kern="0" spc="-49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 The Extended Model optimally selects 6 stations (IDs: 1, 3, 5, 7, 8, 10) within the $350,000 budget. The Baseline Model builds 3 stations (IDs: 5, 8, 10) at a cost of $131,175..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1874"/>
              </a:lnSpc>
              <a:spcBef>
                <a:spcPts val="1810"/>
              </a:spcBef>
              <a:buSzPct val="10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Franklin Gothic Book" panose="020B0503020102020204" pitchFamily="34" charset="0"/>
                <a:ea typeface="Geist Black" pitchFamily="34" charset="-122"/>
                <a:cs typeface="Geist Black" pitchFamily="34" charset="-120"/>
              </a:rPr>
              <a:t>Strategic Objective:</a:t>
            </a:r>
            <a:r>
              <a:rPr lang="en-US" sz="1650" kern="0" spc="-49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 Transition from broad network coverage to targeted high-value investment.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1874"/>
              </a:lnSpc>
              <a:spcBef>
                <a:spcPts val="1810"/>
              </a:spcBef>
              <a:buSzPct val="10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Franklin Gothic Book" panose="020B0503020102020204" pitchFamily="34" charset="0"/>
                <a:ea typeface="Geist Black" pitchFamily="34" charset="-122"/>
                <a:cs typeface="Geist Black" pitchFamily="34" charset="-120"/>
              </a:rPr>
              <a:t>Decision Framework:</a:t>
            </a:r>
            <a:endParaRPr lang="en-US" dirty="0">
              <a:latin typeface="Franklin Gothic Book" panose="020B0503020102020204" pitchFamily="34" charset="0"/>
            </a:endParaRPr>
          </a:p>
          <a:p>
            <a:pPr marL="482600" lvl="1" indent="-241300" algn="l">
              <a:lnSpc>
                <a:spcPts val="2023"/>
              </a:lnSpc>
              <a:spcBef>
                <a:spcPts val="1242"/>
              </a:spcBef>
              <a:buSzPct val="100000"/>
              <a:buChar char="•"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Bold" pitchFamily="34" charset="-122"/>
                <a:cs typeface="Geist Bold" pitchFamily="34" charset="-120"/>
              </a:rPr>
              <a:t>Prioritization:</a:t>
            </a: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 Selection process focuses on nodes with the highest projected ROI.</a:t>
            </a:r>
            <a:endParaRPr lang="en-US" dirty="0">
              <a:latin typeface="Franklin Gothic Book" panose="020B0503020102020204" pitchFamily="34" charset="0"/>
            </a:endParaRPr>
          </a:p>
          <a:p>
            <a:pPr marL="482600" lvl="1" indent="-241300" algn="l">
              <a:lnSpc>
                <a:spcPts val="2023"/>
              </a:lnSpc>
              <a:spcBef>
                <a:spcPts val="1119"/>
              </a:spcBef>
              <a:buSzPct val="100000"/>
              <a:buChar char="•"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Bold" pitchFamily="34" charset="-122"/>
                <a:cs typeface="Geist Bold" pitchFamily="34" charset="-120"/>
              </a:rPr>
              <a:t>Asset Allocation:</a:t>
            </a: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 Capital is concentrated on assets that deliver maximum municipal impact within the defined budget envelope.</a:t>
            </a:r>
            <a:endParaRPr lang="en-US" dirty="0">
              <a:latin typeface="Franklin Gothic Book" panose="020B0503020102020204" pitchFamily="34" charset="0"/>
            </a:endParaRPr>
          </a:p>
          <a:p>
            <a:pPr marL="482600" lvl="1" indent="-241300" algn="l">
              <a:lnSpc>
                <a:spcPts val="2023"/>
              </a:lnSpc>
              <a:spcBef>
                <a:spcPts val="1119"/>
              </a:spcBef>
              <a:buSzPct val="100000"/>
              <a:buChar char="•"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Bold" pitchFamily="34" charset="-122"/>
                <a:cs typeface="Geist Bold" pitchFamily="34" charset="-120"/>
              </a:rPr>
              <a:t>Solver Logic:</a:t>
            </a: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 Optimization algorithms must account for policy-driven boundaries while identifying critical service gaps.</a:t>
            </a:r>
            <a:endParaRPr lang="en-US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Integrating Power Grid Thresholds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Constraint 5: Custom Extension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713286"/>
            <a:ext cx="5101679" cy="19719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15"/>
              </a:lnSpc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Electrical Threshold Definition</a:t>
            </a:r>
            <a:endParaRPr lang="en-US" dirty="0">
              <a:latin typeface="Franklin Gothic Book" panose="020B0503020102020204" pitchFamily="34" charset="0"/>
            </a:endParaRPr>
          </a:p>
          <a:p>
            <a:pPr marL="889000" lvl="1" indent="-317500" algn="l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Each candidate lot is assigned a specific electrical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capacity limit.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2215"/>
              </a:lnSpc>
              <a:spcBef>
                <a:spcPts val="2070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Peak Power Monitoring</a:t>
            </a:r>
            <a:endParaRPr lang="en-US" dirty="0">
              <a:latin typeface="Franklin Gothic Book" panose="020B0503020102020204" pitchFamily="34" charset="0"/>
            </a:endParaRPr>
          </a:p>
          <a:p>
            <a:pPr marL="889000" lvl="1" indent="-317500" algn="l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Real-time tracking of demand against defined operational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thresholds.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86500" y="2713286"/>
            <a:ext cx="5048250" cy="19719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15"/>
              </a:lnSpc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Penalty Mechanism</a:t>
            </a:r>
            <a:endParaRPr lang="en-US" dirty="0">
              <a:latin typeface="Franklin Gothic Book" panose="020B0503020102020204" pitchFamily="34" charset="0"/>
            </a:endParaRPr>
          </a:p>
          <a:p>
            <a:pPr marL="889000" lvl="1" indent="-317500" algn="l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Calculates kilowatt overload when thresholds are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exceeded.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2215"/>
              </a:lnSpc>
              <a:spcBef>
                <a:spcPts val="2070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Economic Impact</a:t>
            </a:r>
            <a:endParaRPr lang="en-US" dirty="0">
              <a:latin typeface="Franklin Gothic Book" panose="020B0503020102020204" pitchFamily="34" charset="0"/>
            </a:endParaRPr>
          </a:p>
          <a:p>
            <a:pPr marL="889000" lvl="1" indent="-317500" algn="l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Overload penalties are integrated into the objective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function to influence operational profit.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3450" y="6378476"/>
            <a:ext cx="1032510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Overload penalties are integrated directly into the objective function, reducing overall operational profits.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Python Backend &amp; Google OR-Tools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Technical</a:t>
            </a: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 Implementation Overview</a:t>
            </a:r>
            <a:endParaRPr lang="en-US" dirty="0"/>
          </a:p>
        </p:txBody>
      </p:sp>
      <p:pic>
        <p:nvPicPr>
          <p:cNvPr id="4" name="Image 0" descr="-b2b1a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59248"/>
            <a:ext cx="295275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125" y="3071336"/>
            <a:ext cx="238125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Data Generation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3882598"/>
            <a:ext cx="2381250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Automated ingestion and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preprocessing of raw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operational requirements.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714500" y="232112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CA78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-1b35a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375" y="2469951"/>
            <a:ext cx="209550" cy="180975"/>
          </a:xfrm>
          <a:prstGeom prst="rect">
            <a:avLst/>
          </a:prstGeom>
        </p:spPr>
      </p:pic>
      <p:pic>
        <p:nvPicPr>
          <p:cNvPr id="9" name="Image 2" descr="517cb5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2559248"/>
            <a:ext cx="295275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67125" y="3071336"/>
            <a:ext cx="20955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Matrix Mapping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524250" y="3882598"/>
            <a:ext cx="2381250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Precise translation of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business logic into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mathematical coefficient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matrices.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476750" y="232112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9160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-77ce26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788" y="2467161"/>
            <a:ext cx="190500" cy="190500"/>
          </a:xfrm>
          <a:prstGeom prst="rect">
            <a:avLst/>
          </a:prstGeom>
        </p:spPr>
      </p:pic>
      <p:pic>
        <p:nvPicPr>
          <p:cNvPr id="14" name="Image 4" descr="-45cbd1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0" y="2559248"/>
            <a:ext cx="2952750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29375" y="2942749"/>
            <a:ext cx="2095500" cy="5191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Constraint</a:t>
            </a:r>
            <a:br>
              <a:rPr lang="en-US" sz="1800" kern="0" spc="-54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800" kern="0" spc="-54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Definition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286500" y="3882598"/>
            <a:ext cx="2381250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Comprehensive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implementation of linear,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logical, and boundary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constraints.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7239000" y="232112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36D48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73ebd5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2249" y="2447627"/>
            <a:ext cx="190500" cy="228600"/>
          </a:xfrm>
          <a:prstGeom prst="rect">
            <a:avLst/>
          </a:prstGeom>
        </p:spPr>
      </p:pic>
      <p:pic>
        <p:nvPicPr>
          <p:cNvPr id="19" name="Image 6" descr="-6f4e07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2559248"/>
            <a:ext cx="2952750" cy="1190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91625" y="3071336"/>
            <a:ext cx="20955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45"/>
              </a:lnSpc>
            </a:pPr>
            <a:r>
              <a:rPr lang="en-US" sz="1800" kern="0" spc="-54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Solver Execution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9048750" y="3882598"/>
            <a:ext cx="2381250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Efficient solving of Mixed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Integer Programming (MIP)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models with error handling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and validation.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10001250" y="232112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7482F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7" descr="-28cd131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3335" y="2453208"/>
            <a:ext cx="219075" cy="219075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/>
          <p:nvPr/>
        </p:nvSpPr>
        <p:spPr>
          <a:xfrm>
            <a:off x="195263" y="6378476"/>
            <a:ext cx="118014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Modular design ensures reliability and scalability across the entire optimization lifecycle using the SCIP solver back-end.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6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Screenshot 2026-06-13 at 17.43.37.png"/>
          <p:cNvPicPr>
            <a:picLocks noChangeAspect="1"/>
          </p:cNvPicPr>
          <p:nvPr/>
        </p:nvPicPr>
        <p:blipFill>
          <a:blip r:embed="rId3"/>
          <a:srcRect l="29862" r="29862"/>
          <a:stretch/>
        </p:blipFill>
        <p:spPr>
          <a:xfrm>
            <a:off x="95250" y="95250"/>
            <a:ext cx="412824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1076771"/>
            <a:ext cx="5743575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4"/>
              </a:lnSpc>
            </a:pPr>
            <a:r>
              <a:rPr lang="en-US" sz="1500" kern="0" spc="-45" dirty="0">
                <a:solidFill>
                  <a:srgbClr val="48DC92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Strategy Comparison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1570137"/>
            <a:ext cx="5743575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727"/>
              </a:lnSpc>
              <a:spcBef>
                <a:spcPts val="2138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Policy Cap Trade-offs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99749" y="2228106"/>
            <a:ext cx="5743575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45"/>
              </a:lnSpc>
              <a:spcBef>
                <a:spcPts val="1426"/>
              </a:spcBef>
            </a:pPr>
            <a:r>
              <a:rPr lang="en-US" sz="1800" kern="0" spc="-54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Model Results: Baseline vs. Extended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99749" y="2487662"/>
            <a:ext cx="6660677" cy="28778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r>
              <a:rPr lang="en-CA" sz="1600" b="1" dirty="0">
                <a:latin typeface="Franklin Gothic Book" panose="020B0503020102020204" pitchFamily="34" charset="0"/>
              </a:rPr>
              <a:t>Baseline Model (3 stations built — IDs: 5, 8, 10)</a:t>
            </a:r>
            <a:endParaRPr lang="en-CA" sz="1600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Franklin Gothic Book" panose="020B0503020102020204" pitchFamily="34" charset="0"/>
              </a:rPr>
              <a:t>CAPEX: $131,175 | Unmet demand: 0 cars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Franklin Gothic Book" panose="020B0503020102020204" pitchFamily="34" charset="0"/>
              </a:rPr>
              <a:t>Simple cost minimization, no renewable sourcing, no equity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>
              <a:latin typeface="Franklin Gothic Book" panose="020B0503020102020204" pitchFamily="34" charset="0"/>
            </a:endParaRPr>
          </a:p>
          <a:p>
            <a:r>
              <a:rPr lang="en-CA" sz="1600" b="1" dirty="0">
                <a:latin typeface="Franklin Gothic Book" panose="020B0503020102020204" pitchFamily="34" charset="0"/>
              </a:rPr>
              <a:t>Extended Model (6 stations built — IDs: 1, 3, 5, 7, 8, 10)</a:t>
            </a:r>
            <a:endParaRPr lang="en-CA" sz="1600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Franklin Gothic Book" panose="020B0503020102020204" pitchFamily="34" charset="0"/>
              </a:rPr>
              <a:t>CAPEX: $280,724 | Total cost: $284,596.48 | Unmet demand: 0 cars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Franklin Gothic Book" panose="020B0503020102020204" pitchFamily="34" charset="0"/>
              </a:rPr>
              <a:t>Multi-source energy, peak/off-peak tariffs, priority weighting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Sensitivity Analysis: What-If Scenarios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Impact of Sensitivity on Grid Fee Structuring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3309938"/>
            <a:ext cx="5524500" cy="1852613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3808661"/>
            <a:ext cx="50482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Scenario A — Budget Tightening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165848"/>
            <a:ext cx="5386834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87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At $200K budget: 4 stations built, 161 cars unserved. At $100K: only 2 stations, 465 unserved.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81313" y="2952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-523a5e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741" y="3167618"/>
            <a:ext cx="257175" cy="28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1250" y="3309938"/>
            <a:ext cx="5524500" cy="1852613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77000" y="3808661"/>
            <a:ext cx="50482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Scenario B — Penalty Rate Sweep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77000" y="4165848"/>
            <a:ext cx="5288012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23"/>
              </a:lnSpc>
              <a:spcBef>
                <a:spcPts val="587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Tipping point at $1,000/car: full coverage triggered. Below $500/car the solver skips stations and pays penalties instead.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596313" y="2952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221ce9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55" y="3150877"/>
            <a:ext cx="323850" cy="32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Workload Distribution &amp; AI Integration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Optimizing team collaboration and development velocity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695325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83437" y="1963638"/>
            <a:ext cx="4825127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Strategic Framework for Modern Development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524125"/>
            <a:ext cx="3683000" cy="3067050"/>
          </a:xfrm>
          <a:prstGeom prst="rect">
            <a:avLst/>
          </a:prstGeom>
          <a:solidFill>
            <a:srgbClr val="4FC9E9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4225" y="3444627"/>
            <a:ext cx="306705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  <a:spcBef>
                <a:spcPts val="1297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Collaborative Data &amp; Metrics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9139" y="3767286"/>
            <a:ext cx="3257223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023"/>
              </a:lnSpc>
              <a:spcBef>
                <a:spcPts val="654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Fostering cross-functional teamwork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via standardized, consistent data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pipeline interpretation and shared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responsibility.</a:t>
            </a:r>
            <a:endParaRPr lang="en-US" dirty="0"/>
          </a:p>
        </p:txBody>
      </p:sp>
      <p:pic>
        <p:nvPicPr>
          <p:cNvPr id="9" name="Image 0" descr="1486d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715" y="2804068"/>
            <a:ext cx="485775" cy="4667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4500" y="2524125"/>
            <a:ext cx="3683000" cy="3067050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29138" y="3444627"/>
            <a:ext cx="313372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  <a:spcBef>
                <a:spcPts val="1297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AI-Powered Acceleration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428932" y="3767286"/>
            <a:ext cx="3334137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023"/>
              </a:lnSpc>
              <a:spcBef>
                <a:spcPts val="654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Automating syntax validation, rapid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debugging, and complex matrix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troubleshooting to ensure production-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ready code.</a:t>
            </a:r>
            <a:endParaRPr lang="en-US" dirty="0"/>
          </a:p>
        </p:txBody>
      </p:sp>
      <p:pic>
        <p:nvPicPr>
          <p:cNvPr id="13" name="Image 1" descr="-42fda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312" y="2804071"/>
            <a:ext cx="628650" cy="5238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32750" y="2524125"/>
            <a:ext cx="3683000" cy="3067050"/>
          </a:xfrm>
          <a:prstGeom prst="rect">
            <a:avLst/>
          </a:prstGeom>
          <a:solidFill>
            <a:srgbClr val="7CAAEE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297863" y="3444627"/>
            <a:ext cx="31527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  <a:spcBef>
                <a:spcPts val="1297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Operational Efficiency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199085" y="3767286"/>
            <a:ext cx="3350329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023"/>
              </a:lnSpc>
              <a:spcBef>
                <a:spcPts val="654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Reducing time-to-market by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delegating repetitive verification tasks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to intelligent agents, allowing focus on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high-impact development.</a:t>
            </a:r>
            <a:endParaRPr lang="en-US" dirty="0"/>
          </a:p>
        </p:txBody>
      </p:sp>
      <p:pic>
        <p:nvPicPr>
          <p:cNvPr id="17" name="Image 2" descr="-7fbbcd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395" y="2876623"/>
            <a:ext cx="381000" cy="3238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6250" y="5686425"/>
            <a:ext cx="11239500" cy="695325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395538" y="5924996"/>
            <a:ext cx="7400925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704"/>
              </a:lnSpc>
            </a:pPr>
            <a:r>
              <a:rPr lang="en-US" sz="1500" kern="0" spc="-45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UNIFIED WORKFLOWS DRIVING TECHNICAL EXCELLENCE AND DELIVERY SPEED.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5826"/>
            <a:ext cx="11334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727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Franklin Gothic Demi" panose="020B0703020102020204" pitchFamily="34" charset="0"/>
                <a:ea typeface="Geist Semi Bold" pitchFamily="34" charset="-122"/>
                <a:cs typeface="Geist Semi Bold" pitchFamily="34" charset="-120"/>
              </a:rPr>
              <a:t>The Master Blueprint for Smart Cities</a:t>
            </a:r>
            <a:endParaRPr lang="en-US" dirty="0">
              <a:latin typeface="Franklin Gothic Demi" panose="020B07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36141"/>
            <a:ext cx="113347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26"/>
              </a:lnSpc>
              <a:spcBef>
                <a:spcPts val="1136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Strategic Takeaways for EV Infrastructure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4476750" cy="392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a modern electric vehicle charging station in a smart city"/>
          <p:cNvPicPr>
            <a:picLocks noChangeAspect="1"/>
          </p:cNvPicPr>
          <p:nvPr/>
        </p:nvPicPr>
        <p:blipFill>
          <a:blip r:embed="rId3"/>
          <a:srcRect t="6170" b="6170"/>
          <a:stretch/>
        </p:blipFill>
        <p:spPr>
          <a:xfrm>
            <a:off x="476250" y="1733550"/>
            <a:ext cx="4476750" cy="3924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156073"/>
            <a:ext cx="6382792" cy="30920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15"/>
              </a:lnSpc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Infrastructure Integration</a:t>
            </a:r>
            <a:endParaRPr lang="en-US" dirty="0">
              <a:latin typeface="Franklin Gothic Book" panose="020B0503020102020204" pitchFamily="34" charset="0"/>
            </a:endParaRPr>
          </a:p>
          <a:p>
            <a:pPr marL="889000" lvl="1" indent="-317500" algn="l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Synchronize EV charging deployment with local grid capacity to prevent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overloading.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2215"/>
              </a:lnSpc>
              <a:spcBef>
                <a:spcPts val="2070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Grid Stability</a:t>
            </a:r>
            <a:endParaRPr lang="en-US" dirty="0">
              <a:latin typeface="Franklin Gothic Book" panose="020B0503020102020204" pitchFamily="34" charset="0"/>
            </a:endParaRPr>
          </a:p>
          <a:p>
            <a:pPr marL="889000" lvl="1" indent="-317500" algn="l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Leverage smart grid technologies to manage charging loads during peak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demand hours.</a:t>
            </a:r>
            <a:endParaRPr lang="en-US" dirty="0">
              <a:latin typeface="Franklin Gothic Book" panose="020B0503020102020204" pitchFamily="34" charset="0"/>
            </a:endParaRPr>
          </a:p>
          <a:p>
            <a:pPr marL="241300" indent="-241300" algn="l">
              <a:lnSpc>
                <a:spcPts val="2215"/>
              </a:lnSpc>
              <a:spcBef>
                <a:spcPts val="2070"/>
              </a:spcBef>
              <a:buSzPct val="10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Franklin Gothic Book" panose="020B0503020102020204" pitchFamily="34" charset="0"/>
                <a:ea typeface="Geist Semi Bold" pitchFamily="34" charset="-122"/>
                <a:cs typeface="Geist Semi Bold" pitchFamily="34" charset="-120"/>
              </a:rPr>
              <a:t>Economic Feasibility</a:t>
            </a:r>
            <a:endParaRPr lang="en-US" dirty="0">
              <a:latin typeface="Franklin Gothic Book" panose="020B0503020102020204" pitchFamily="34" charset="0"/>
            </a:endParaRPr>
          </a:p>
          <a:p>
            <a:pPr marL="889000" lvl="1" indent="-317500" algn="l">
              <a:lnSpc>
                <a:spcPts val="2023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Balance infrastructure investment costs with long-term operational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Franklin Gothic Book" panose="020B0503020102020204" pitchFamily="34" charset="0"/>
                <a:ea typeface="Geist Regular" pitchFamily="34" charset="-122"/>
                <a:cs typeface="Geist Regular" pitchFamily="34" charset="-120"/>
              </a:rPr>
              <a:t>profitability.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47788" y="6378476"/>
            <a:ext cx="949642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74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EV planning must integrate grid constraints to protect infrastructure while ensuring profitability.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1115</Words>
  <Application>Microsoft Office PowerPoint</Application>
  <PresentationFormat>Widescreen</PresentationFormat>
  <Paragraphs>152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Franklin Gothic Book</vt:lpstr>
      <vt:lpstr>Franklin Gothic Demi</vt:lpstr>
      <vt:lpstr>Geist Black</vt:lpstr>
      <vt:lpstr>Geist Regular</vt:lpstr>
      <vt:lpstr>Geist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German Eduardo Meins Aguila</cp:lastModifiedBy>
  <cp:revision>6</cp:revision>
  <dcterms:created xsi:type="dcterms:W3CDTF">2026-06-14T00:20:52Z</dcterms:created>
  <dcterms:modified xsi:type="dcterms:W3CDTF">2026-06-15T00:34:27Z</dcterms:modified>
</cp:coreProperties>
</file>